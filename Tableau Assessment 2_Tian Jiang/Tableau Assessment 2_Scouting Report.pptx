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59" r:id="rId6"/>
    <p:sldId id="261"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1C6F6-54B5-0635-2B9D-9EC6696A49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D6FC177-AA80-AAF6-7546-888DCF131A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E02FF7A-37E1-2F7B-0042-9A890727A3D8}"/>
              </a:ext>
            </a:extLst>
          </p:cNvPr>
          <p:cNvSpPr>
            <a:spLocks noGrp="1"/>
          </p:cNvSpPr>
          <p:nvPr>
            <p:ph type="dt" sz="half" idx="10"/>
          </p:nvPr>
        </p:nvSpPr>
        <p:spPr/>
        <p:txBody>
          <a:bodyPr/>
          <a:lstStyle/>
          <a:p>
            <a:fld id="{22E1F60F-673E-4861-8DCB-86038B30E511}" type="datetimeFigureOut">
              <a:rPr lang="en-GB" smtClean="0"/>
              <a:t>15/05/2024</a:t>
            </a:fld>
            <a:endParaRPr lang="en-GB"/>
          </a:p>
        </p:txBody>
      </p:sp>
      <p:sp>
        <p:nvSpPr>
          <p:cNvPr id="5" name="Footer Placeholder 4">
            <a:extLst>
              <a:ext uri="{FF2B5EF4-FFF2-40B4-BE49-F238E27FC236}">
                <a16:creationId xmlns:a16="http://schemas.microsoft.com/office/drawing/2014/main" id="{F88929A0-8EEC-B22C-7B97-DD1519E6B6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66223B-A0EA-9079-7CE2-BDB858E712C7}"/>
              </a:ext>
            </a:extLst>
          </p:cNvPr>
          <p:cNvSpPr>
            <a:spLocks noGrp="1"/>
          </p:cNvSpPr>
          <p:nvPr>
            <p:ph type="sldNum" sz="quarter" idx="12"/>
          </p:nvPr>
        </p:nvSpPr>
        <p:spPr/>
        <p:txBody>
          <a:bodyPr/>
          <a:lstStyle/>
          <a:p>
            <a:fld id="{4D0D6227-C9F9-49EA-A8A4-F69C61041464}" type="slidenum">
              <a:rPr lang="en-GB" smtClean="0"/>
              <a:t>‹#›</a:t>
            </a:fld>
            <a:endParaRPr lang="en-GB"/>
          </a:p>
        </p:txBody>
      </p:sp>
    </p:spTree>
    <p:extLst>
      <p:ext uri="{BB962C8B-B14F-4D97-AF65-F5344CB8AC3E}">
        <p14:creationId xmlns:p14="http://schemas.microsoft.com/office/powerpoint/2010/main" val="3217242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C579D-B95C-719E-13D4-B191FFD1726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932EC14-A8C6-2F6E-CD7F-537C7146D3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34DAB4-7F70-02BA-3443-2FC3443C946D}"/>
              </a:ext>
            </a:extLst>
          </p:cNvPr>
          <p:cNvSpPr>
            <a:spLocks noGrp="1"/>
          </p:cNvSpPr>
          <p:nvPr>
            <p:ph type="dt" sz="half" idx="10"/>
          </p:nvPr>
        </p:nvSpPr>
        <p:spPr/>
        <p:txBody>
          <a:bodyPr/>
          <a:lstStyle/>
          <a:p>
            <a:fld id="{22E1F60F-673E-4861-8DCB-86038B30E511}" type="datetimeFigureOut">
              <a:rPr lang="en-GB" smtClean="0"/>
              <a:t>15/05/2024</a:t>
            </a:fld>
            <a:endParaRPr lang="en-GB"/>
          </a:p>
        </p:txBody>
      </p:sp>
      <p:sp>
        <p:nvSpPr>
          <p:cNvPr id="5" name="Footer Placeholder 4">
            <a:extLst>
              <a:ext uri="{FF2B5EF4-FFF2-40B4-BE49-F238E27FC236}">
                <a16:creationId xmlns:a16="http://schemas.microsoft.com/office/drawing/2014/main" id="{641645D2-7EF0-D373-D1AB-FC604C4372C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8AF4D34-58E5-6B08-901D-005814E394FB}"/>
              </a:ext>
            </a:extLst>
          </p:cNvPr>
          <p:cNvSpPr>
            <a:spLocks noGrp="1"/>
          </p:cNvSpPr>
          <p:nvPr>
            <p:ph type="sldNum" sz="quarter" idx="12"/>
          </p:nvPr>
        </p:nvSpPr>
        <p:spPr/>
        <p:txBody>
          <a:bodyPr/>
          <a:lstStyle/>
          <a:p>
            <a:fld id="{4D0D6227-C9F9-49EA-A8A4-F69C61041464}" type="slidenum">
              <a:rPr lang="en-GB" smtClean="0"/>
              <a:t>‹#›</a:t>
            </a:fld>
            <a:endParaRPr lang="en-GB"/>
          </a:p>
        </p:txBody>
      </p:sp>
    </p:spTree>
    <p:extLst>
      <p:ext uri="{BB962C8B-B14F-4D97-AF65-F5344CB8AC3E}">
        <p14:creationId xmlns:p14="http://schemas.microsoft.com/office/powerpoint/2010/main" val="4023443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262E8-CA9F-9280-9F7C-99C18E611A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6391466-62C7-66FB-5347-B7623C971E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EBCD97-9C9E-344C-0444-ECB818270FC4}"/>
              </a:ext>
            </a:extLst>
          </p:cNvPr>
          <p:cNvSpPr>
            <a:spLocks noGrp="1"/>
          </p:cNvSpPr>
          <p:nvPr>
            <p:ph type="dt" sz="half" idx="10"/>
          </p:nvPr>
        </p:nvSpPr>
        <p:spPr/>
        <p:txBody>
          <a:bodyPr/>
          <a:lstStyle/>
          <a:p>
            <a:fld id="{22E1F60F-673E-4861-8DCB-86038B30E511}" type="datetimeFigureOut">
              <a:rPr lang="en-GB" smtClean="0"/>
              <a:t>15/05/2024</a:t>
            </a:fld>
            <a:endParaRPr lang="en-GB"/>
          </a:p>
        </p:txBody>
      </p:sp>
      <p:sp>
        <p:nvSpPr>
          <p:cNvPr id="5" name="Footer Placeholder 4">
            <a:extLst>
              <a:ext uri="{FF2B5EF4-FFF2-40B4-BE49-F238E27FC236}">
                <a16:creationId xmlns:a16="http://schemas.microsoft.com/office/drawing/2014/main" id="{EE4ABF15-0AA1-1560-2104-2E08750D0C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F4BB71-5406-78B1-D329-CA6001252D1C}"/>
              </a:ext>
            </a:extLst>
          </p:cNvPr>
          <p:cNvSpPr>
            <a:spLocks noGrp="1"/>
          </p:cNvSpPr>
          <p:nvPr>
            <p:ph type="sldNum" sz="quarter" idx="12"/>
          </p:nvPr>
        </p:nvSpPr>
        <p:spPr/>
        <p:txBody>
          <a:bodyPr/>
          <a:lstStyle/>
          <a:p>
            <a:fld id="{4D0D6227-C9F9-49EA-A8A4-F69C61041464}" type="slidenum">
              <a:rPr lang="en-GB" smtClean="0"/>
              <a:t>‹#›</a:t>
            </a:fld>
            <a:endParaRPr lang="en-GB"/>
          </a:p>
        </p:txBody>
      </p:sp>
    </p:spTree>
    <p:extLst>
      <p:ext uri="{BB962C8B-B14F-4D97-AF65-F5344CB8AC3E}">
        <p14:creationId xmlns:p14="http://schemas.microsoft.com/office/powerpoint/2010/main" val="3047237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BAF04-8889-2D38-0F18-1E0B3B5F17F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C13B23-5CAA-93A8-667A-B51661AAD6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ABE2CE-84BB-A596-6ADA-CA89E1A556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4C74BC0-5AF3-F7C9-D090-D93D4FD58055}"/>
              </a:ext>
            </a:extLst>
          </p:cNvPr>
          <p:cNvSpPr>
            <a:spLocks noGrp="1"/>
          </p:cNvSpPr>
          <p:nvPr>
            <p:ph type="dt" sz="half" idx="10"/>
          </p:nvPr>
        </p:nvSpPr>
        <p:spPr/>
        <p:txBody>
          <a:bodyPr/>
          <a:lstStyle/>
          <a:p>
            <a:fld id="{22E1F60F-673E-4861-8DCB-86038B30E511}" type="datetimeFigureOut">
              <a:rPr lang="en-GB" smtClean="0"/>
              <a:t>15/05/2024</a:t>
            </a:fld>
            <a:endParaRPr lang="en-GB"/>
          </a:p>
        </p:txBody>
      </p:sp>
      <p:sp>
        <p:nvSpPr>
          <p:cNvPr id="6" name="Footer Placeholder 5">
            <a:extLst>
              <a:ext uri="{FF2B5EF4-FFF2-40B4-BE49-F238E27FC236}">
                <a16:creationId xmlns:a16="http://schemas.microsoft.com/office/drawing/2014/main" id="{0EF111CD-31BF-D06D-7956-E2185006B94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C88227D-25D6-D804-0CF0-097F7C21411E}"/>
              </a:ext>
            </a:extLst>
          </p:cNvPr>
          <p:cNvSpPr>
            <a:spLocks noGrp="1"/>
          </p:cNvSpPr>
          <p:nvPr>
            <p:ph type="sldNum" sz="quarter" idx="12"/>
          </p:nvPr>
        </p:nvSpPr>
        <p:spPr/>
        <p:txBody>
          <a:bodyPr/>
          <a:lstStyle/>
          <a:p>
            <a:fld id="{4D0D6227-C9F9-49EA-A8A4-F69C61041464}" type="slidenum">
              <a:rPr lang="en-GB" smtClean="0"/>
              <a:t>‹#›</a:t>
            </a:fld>
            <a:endParaRPr lang="en-GB"/>
          </a:p>
        </p:txBody>
      </p:sp>
    </p:spTree>
    <p:extLst>
      <p:ext uri="{BB962C8B-B14F-4D97-AF65-F5344CB8AC3E}">
        <p14:creationId xmlns:p14="http://schemas.microsoft.com/office/powerpoint/2010/main" val="2555829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1BD24-B0CD-6AFF-9ABE-108D039078F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E413E35-29C9-A776-B811-D6E5281B41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50BD6C-3417-52AC-F94D-01A662F917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93CAC6A-89B3-EF42-925F-EA439983B9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146F60-E766-E41D-2A84-6910213B3E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7AAC426-2853-B37B-255B-90F3C7DDA24C}"/>
              </a:ext>
            </a:extLst>
          </p:cNvPr>
          <p:cNvSpPr>
            <a:spLocks noGrp="1"/>
          </p:cNvSpPr>
          <p:nvPr>
            <p:ph type="dt" sz="half" idx="10"/>
          </p:nvPr>
        </p:nvSpPr>
        <p:spPr/>
        <p:txBody>
          <a:bodyPr/>
          <a:lstStyle/>
          <a:p>
            <a:fld id="{22E1F60F-673E-4861-8DCB-86038B30E511}" type="datetimeFigureOut">
              <a:rPr lang="en-GB" smtClean="0"/>
              <a:t>15/05/2024</a:t>
            </a:fld>
            <a:endParaRPr lang="en-GB"/>
          </a:p>
        </p:txBody>
      </p:sp>
      <p:sp>
        <p:nvSpPr>
          <p:cNvPr id="8" name="Footer Placeholder 7">
            <a:extLst>
              <a:ext uri="{FF2B5EF4-FFF2-40B4-BE49-F238E27FC236}">
                <a16:creationId xmlns:a16="http://schemas.microsoft.com/office/drawing/2014/main" id="{F26DC168-71A5-908F-7171-4A1AAA1A6A5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177549E-05A2-F4EE-E5DB-BABE11A4B172}"/>
              </a:ext>
            </a:extLst>
          </p:cNvPr>
          <p:cNvSpPr>
            <a:spLocks noGrp="1"/>
          </p:cNvSpPr>
          <p:nvPr>
            <p:ph type="sldNum" sz="quarter" idx="12"/>
          </p:nvPr>
        </p:nvSpPr>
        <p:spPr/>
        <p:txBody>
          <a:bodyPr/>
          <a:lstStyle/>
          <a:p>
            <a:fld id="{4D0D6227-C9F9-49EA-A8A4-F69C61041464}" type="slidenum">
              <a:rPr lang="en-GB" smtClean="0"/>
              <a:t>‹#›</a:t>
            </a:fld>
            <a:endParaRPr lang="en-GB"/>
          </a:p>
        </p:txBody>
      </p:sp>
    </p:spTree>
    <p:extLst>
      <p:ext uri="{BB962C8B-B14F-4D97-AF65-F5344CB8AC3E}">
        <p14:creationId xmlns:p14="http://schemas.microsoft.com/office/powerpoint/2010/main" val="1361181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B15BE-AF82-152F-98B8-FEDAF5AB50E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1A2FD66-CF18-47C7-477A-CD34A74D629F}"/>
              </a:ext>
            </a:extLst>
          </p:cNvPr>
          <p:cNvSpPr>
            <a:spLocks noGrp="1"/>
          </p:cNvSpPr>
          <p:nvPr>
            <p:ph type="dt" sz="half" idx="10"/>
          </p:nvPr>
        </p:nvSpPr>
        <p:spPr/>
        <p:txBody>
          <a:bodyPr/>
          <a:lstStyle/>
          <a:p>
            <a:fld id="{22E1F60F-673E-4861-8DCB-86038B30E511}" type="datetimeFigureOut">
              <a:rPr lang="en-GB" smtClean="0"/>
              <a:t>15/05/2024</a:t>
            </a:fld>
            <a:endParaRPr lang="en-GB"/>
          </a:p>
        </p:txBody>
      </p:sp>
      <p:sp>
        <p:nvSpPr>
          <p:cNvPr id="4" name="Footer Placeholder 3">
            <a:extLst>
              <a:ext uri="{FF2B5EF4-FFF2-40B4-BE49-F238E27FC236}">
                <a16:creationId xmlns:a16="http://schemas.microsoft.com/office/drawing/2014/main" id="{436948C9-1A45-637C-2774-C1C4F356CD9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4DC608C-58A9-2A7B-984A-3221C8E7197D}"/>
              </a:ext>
            </a:extLst>
          </p:cNvPr>
          <p:cNvSpPr>
            <a:spLocks noGrp="1"/>
          </p:cNvSpPr>
          <p:nvPr>
            <p:ph type="sldNum" sz="quarter" idx="12"/>
          </p:nvPr>
        </p:nvSpPr>
        <p:spPr/>
        <p:txBody>
          <a:bodyPr/>
          <a:lstStyle/>
          <a:p>
            <a:fld id="{4D0D6227-C9F9-49EA-A8A4-F69C61041464}" type="slidenum">
              <a:rPr lang="en-GB" smtClean="0"/>
              <a:t>‹#›</a:t>
            </a:fld>
            <a:endParaRPr lang="en-GB"/>
          </a:p>
        </p:txBody>
      </p:sp>
    </p:spTree>
    <p:extLst>
      <p:ext uri="{BB962C8B-B14F-4D97-AF65-F5344CB8AC3E}">
        <p14:creationId xmlns:p14="http://schemas.microsoft.com/office/powerpoint/2010/main" val="30758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163BA2-1E25-1B61-B791-587F5E0CD2F3}"/>
              </a:ext>
            </a:extLst>
          </p:cNvPr>
          <p:cNvSpPr>
            <a:spLocks noGrp="1"/>
          </p:cNvSpPr>
          <p:nvPr>
            <p:ph type="dt" sz="half" idx="10"/>
          </p:nvPr>
        </p:nvSpPr>
        <p:spPr/>
        <p:txBody>
          <a:bodyPr/>
          <a:lstStyle/>
          <a:p>
            <a:fld id="{22E1F60F-673E-4861-8DCB-86038B30E511}" type="datetimeFigureOut">
              <a:rPr lang="en-GB" smtClean="0"/>
              <a:t>15/05/2024</a:t>
            </a:fld>
            <a:endParaRPr lang="en-GB"/>
          </a:p>
        </p:txBody>
      </p:sp>
      <p:sp>
        <p:nvSpPr>
          <p:cNvPr id="3" name="Footer Placeholder 2">
            <a:extLst>
              <a:ext uri="{FF2B5EF4-FFF2-40B4-BE49-F238E27FC236}">
                <a16:creationId xmlns:a16="http://schemas.microsoft.com/office/drawing/2014/main" id="{852840D3-F5FA-B498-3A8D-994BDB4C3F9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2EA9D1A-087F-B5E6-AE0B-51EAC4592D98}"/>
              </a:ext>
            </a:extLst>
          </p:cNvPr>
          <p:cNvSpPr>
            <a:spLocks noGrp="1"/>
          </p:cNvSpPr>
          <p:nvPr>
            <p:ph type="sldNum" sz="quarter" idx="12"/>
          </p:nvPr>
        </p:nvSpPr>
        <p:spPr/>
        <p:txBody>
          <a:bodyPr/>
          <a:lstStyle/>
          <a:p>
            <a:fld id="{4D0D6227-C9F9-49EA-A8A4-F69C61041464}" type="slidenum">
              <a:rPr lang="en-GB" smtClean="0"/>
              <a:t>‹#›</a:t>
            </a:fld>
            <a:endParaRPr lang="en-GB"/>
          </a:p>
        </p:txBody>
      </p:sp>
    </p:spTree>
    <p:extLst>
      <p:ext uri="{BB962C8B-B14F-4D97-AF65-F5344CB8AC3E}">
        <p14:creationId xmlns:p14="http://schemas.microsoft.com/office/powerpoint/2010/main" val="2597556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7C6FF-1086-74A9-50FA-23A81EC8C8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F660AD0-12D5-5CB5-4514-52D124EFE2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091E4B0-6BAB-2721-6A04-80CC10E773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A26897-E288-0A23-58C5-9305C3D2C085}"/>
              </a:ext>
            </a:extLst>
          </p:cNvPr>
          <p:cNvSpPr>
            <a:spLocks noGrp="1"/>
          </p:cNvSpPr>
          <p:nvPr>
            <p:ph type="dt" sz="half" idx="10"/>
          </p:nvPr>
        </p:nvSpPr>
        <p:spPr/>
        <p:txBody>
          <a:bodyPr/>
          <a:lstStyle/>
          <a:p>
            <a:fld id="{22E1F60F-673E-4861-8DCB-86038B30E511}" type="datetimeFigureOut">
              <a:rPr lang="en-GB" smtClean="0"/>
              <a:t>15/05/2024</a:t>
            </a:fld>
            <a:endParaRPr lang="en-GB"/>
          </a:p>
        </p:txBody>
      </p:sp>
      <p:sp>
        <p:nvSpPr>
          <p:cNvPr id="6" name="Footer Placeholder 5">
            <a:extLst>
              <a:ext uri="{FF2B5EF4-FFF2-40B4-BE49-F238E27FC236}">
                <a16:creationId xmlns:a16="http://schemas.microsoft.com/office/drawing/2014/main" id="{B2221321-3889-5058-5BDD-2BED5B517B0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AB7059D-3E72-E5BF-9C73-74299A7434C1}"/>
              </a:ext>
            </a:extLst>
          </p:cNvPr>
          <p:cNvSpPr>
            <a:spLocks noGrp="1"/>
          </p:cNvSpPr>
          <p:nvPr>
            <p:ph type="sldNum" sz="quarter" idx="12"/>
          </p:nvPr>
        </p:nvSpPr>
        <p:spPr/>
        <p:txBody>
          <a:bodyPr/>
          <a:lstStyle/>
          <a:p>
            <a:fld id="{4D0D6227-C9F9-49EA-A8A4-F69C61041464}" type="slidenum">
              <a:rPr lang="en-GB" smtClean="0"/>
              <a:t>‹#›</a:t>
            </a:fld>
            <a:endParaRPr lang="en-GB"/>
          </a:p>
        </p:txBody>
      </p:sp>
    </p:spTree>
    <p:extLst>
      <p:ext uri="{BB962C8B-B14F-4D97-AF65-F5344CB8AC3E}">
        <p14:creationId xmlns:p14="http://schemas.microsoft.com/office/powerpoint/2010/main" val="2528079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624D8-0100-BA05-4FBE-F436DF53C2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D7E21AD-80A9-B144-0474-2B075B78A8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19ECD67-5095-22D9-BD49-1FDAF4A830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B082D1-F12B-759F-4E1A-216D73A9839C}"/>
              </a:ext>
            </a:extLst>
          </p:cNvPr>
          <p:cNvSpPr>
            <a:spLocks noGrp="1"/>
          </p:cNvSpPr>
          <p:nvPr>
            <p:ph type="dt" sz="half" idx="10"/>
          </p:nvPr>
        </p:nvSpPr>
        <p:spPr/>
        <p:txBody>
          <a:bodyPr/>
          <a:lstStyle/>
          <a:p>
            <a:fld id="{22E1F60F-673E-4861-8DCB-86038B30E511}" type="datetimeFigureOut">
              <a:rPr lang="en-GB" smtClean="0"/>
              <a:t>15/05/2024</a:t>
            </a:fld>
            <a:endParaRPr lang="en-GB"/>
          </a:p>
        </p:txBody>
      </p:sp>
      <p:sp>
        <p:nvSpPr>
          <p:cNvPr id="6" name="Footer Placeholder 5">
            <a:extLst>
              <a:ext uri="{FF2B5EF4-FFF2-40B4-BE49-F238E27FC236}">
                <a16:creationId xmlns:a16="http://schemas.microsoft.com/office/drawing/2014/main" id="{9CD12511-6F78-65F2-8CF8-01F55E3C27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848A049-7081-894E-CB1A-BC12E10E11A0}"/>
              </a:ext>
            </a:extLst>
          </p:cNvPr>
          <p:cNvSpPr>
            <a:spLocks noGrp="1"/>
          </p:cNvSpPr>
          <p:nvPr>
            <p:ph type="sldNum" sz="quarter" idx="12"/>
          </p:nvPr>
        </p:nvSpPr>
        <p:spPr/>
        <p:txBody>
          <a:bodyPr/>
          <a:lstStyle/>
          <a:p>
            <a:fld id="{4D0D6227-C9F9-49EA-A8A4-F69C61041464}" type="slidenum">
              <a:rPr lang="en-GB" smtClean="0"/>
              <a:t>‹#›</a:t>
            </a:fld>
            <a:endParaRPr lang="en-GB"/>
          </a:p>
        </p:txBody>
      </p:sp>
    </p:spTree>
    <p:extLst>
      <p:ext uri="{BB962C8B-B14F-4D97-AF65-F5344CB8AC3E}">
        <p14:creationId xmlns:p14="http://schemas.microsoft.com/office/powerpoint/2010/main" val="4286784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72F4B-6CF8-961C-F07A-FDF24710EBD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F28C589-A7DB-FF6F-8C9B-E8074C22BE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EADF05B-2B97-CAC0-4881-73AE632B5D9A}"/>
              </a:ext>
            </a:extLst>
          </p:cNvPr>
          <p:cNvSpPr>
            <a:spLocks noGrp="1"/>
          </p:cNvSpPr>
          <p:nvPr>
            <p:ph type="dt" sz="half" idx="10"/>
          </p:nvPr>
        </p:nvSpPr>
        <p:spPr/>
        <p:txBody>
          <a:bodyPr/>
          <a:lstStyle/>
          <a:p>
            <a:fld id="{22E1F60F-673E-4861-8DCB-86038B30E511}" type="datetimeFigureOut">
              <a:rPr lang="en-GB" smtClean="0"/>
              <a:t>15/05/2024</a:t>
            </a:fld>
            <a:endParaRPr lang="en-GB"/>
          </a:p>
        </p:txBody>
      </p:sp>
      <p:sp>
        <p:nvSpPr>
          <p:cNvPr id="5" name="Footer Placeholder 4">
            <a:extLst>
              <a:ext uri="{FF2B5EF4-FFF2-40B4-BE49-F238E27FC236}">
                <a16:creationId xmlns:a16="http://schemas.microsoft.com/office/drawing/2014/main" id="{D14D26B3-E177-CA67-1197-50F2151E26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0DCE7FD-ECC1-EEF1-069B-281D030623EF}"/>
              </a:ext>
            </a:extLst>
          </p:cNvPr>
          <p:cNvSpPr>
            <a:spLocks noGrp="1"/>
          </p:cNvSpPr>
          <p:nvPr>
            <p:ph type="sldNum" sz="quarter" idx="12"/>
          </p:nvPr>
        </p:nvSpPr>
        <p:spPr/>
        <p:txBody>
          <a:bodyPr/>
          <a:lstStyle/>
          <a:p>
            <a:fld id="{4D0D6227-C9F9-49EA-A8A4-F69C61041464}" type="slidenum">
              <a:rPr lang="en-GB" smtClean="0"/>
              <a:t>‹#›</a:t>
            </a:fld>
            <a:endParaRPr lang="en-GB"/>
          </a:p>
        </p:txBody>
      </p:sp>
    </p:spTree>
    <p:extLst>
      <p:ext uri="{BB962C8B-B14F-4D97-AF65-F5344CB8AC3E}">
        <p14:creationId xmlns:p14="http://schemas.microsoft.com/office/powerpoint/2010/main" val="4237745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877CD3-1891-543B-2D44-FE0F53AE5A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DFF54C9-82A1-69BF-51A5-91806E075D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43E8565-4246-3678-8987-D929C204732A}"/>
              </a:ext>
            </a:extLst>
          </p:cNvPr>
          <p:cNvSpPr>
            <a:spLocks noGrp="1"/>
          </p:cNvSpPr>
          <p:nvPr>
            <p:ph type="dt" sz="half" idx="10"/>
          </p:nvPr>
        </p:nvSpPr>
        <p:spPr/>
        <p:txBody>
          <a:bodyPr/>
          <a:lstStyle/>
          <a:p>
            <a:fld id="{22E1F60F-673E-4861-8DCB-86038B30E511}" type="datetimeFigureOut">
              <a:rPr lang="en-GB" smtClean="0"/>
              <a:t>15/05/2024</a:t>
            </a:fld>
            <a:endParaRPr lang="en-GB"/>
          </a:p>
        </p:txBody>
      </p:sp>
      <p:sp>
        <p:nvSpPr>
          <p:cNvPr id="5" name="Footer Placeholder 4">
            <a:extLst>
              <a:ext uri="{FF2B5EF4-FFF2-40B4-BE49-F238E27FC236}">
                <a16:creationId xmlns:a16="http://schemas.microsoft.com/office/drawing/2014/main" id="{587CA6B5-333F-8900-CF37-6043A482AB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872295-AD2D-86B4-66CA-E3F254FEC6F2}"/>
              </a:ext>
            </a:extLst>
          </p:cNvPr>
          <p:cNvSpPr>
            <a:spLocks noGrp="1"/>
          </p:cNvSpPr>
          <p:nvPr>
            <p:ph type="sldNum" sz="quarter" idx="12"/>
          </p:nvPr>
        </p:nvSpPr>
        <p:spPr/>
        <p:txBody>
          <a:bodyPr/>
          <a:lstStyle/>
          <a:p>
            <a:fld id="{4D0D6227-C9F9-49EA-A8A4-F69C61041464}" type="slidenum">
              <a:rPr lang="en-GB" smtClean="0"/>
              <a:t>‹#›</a:t>
            </a:fld>
            <a:endParaRPr lang="en-GB"/>
          </a:p>
        </p:txBody>
      </p:sp>
    </p:spTree>
    <p:extLst>
      <p:ext uri="{BB962C8B-B14F-4D97-AF65-F5344CB8AC3E}">
        <p14:creationId xmlns:p14="http://schemas.microsoft.com/office/powerpoint/2010/main" val="2461678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A84A20-6B95-C42F-CCD8-95F2339990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3AB4F98-2716-06CC-D90A-4D5492FCD7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2E4188-9C03-E1AF-DC13-FD96B07AC0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E1F60F-673E-4861-8DCB-86038B30E511}" type="datetimeFigureOut">
              <a:rPr lang="en-GB" smtClean="0"/>
              <a:t>15/05/2024</a:t>
            </a:fld>
            <a:endParaRPr lang="en-GB"/>
          </a:p>
        </p:txBody>
      </p:sp>
      <p:sp>
        <p:nvSpPr>
          <p:cNvPr id="5" name="Footer Placeholder 4">
            <a:extLst>
              <a:ext uri="{FF2B5EF4-FFF2-40B4-BE49-F238E27FC236}">
                <a16:creationId xmlns:a16="http://schemas.microsoft.com/office/drawing/2014/main" id="{1EE085CE-5391-2F4A-2089-C968B3F2C3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E52FEEB-0258-9B47-1829-C15A6C2F77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0D6227-C9F9-49EA-A8A4-F69C61041464}" type="slidenum">
              <a:rPr lang="en-GB" smtClean="0"/>
              <a:t>‹#›</a:t>
            </a:fld>
            <a:endParaRPr lang="en-GB"/>
          </a:p>
        </p:txBody>
      </p:sp>
    </p:spTree>
    <p:extLst>
      <p:ext uri="{BB962C8B-B14F-4D97-AF65-F5344CB8AC3E}">
        <p14:creationId xmlns:p14="http://schemas.microsoft.com/office/powerpoint/2010/main" val="1053138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hyperlink" Target="https://www.givemesport.com/10-fastest-players/#:~:text=4%20Rafael%20Leao%20%2D%2036.5%20km%5Ch&amp;text=The%20Portuguese%20star%20scored%2016,Vinicius%20and%20Allan%20Saint%2DMaximin." TargetMode="External"/><Relationship Id="rId3" Type="http://schemas.openxmlformats.org/officeDocument/2006/relationships/hyperlink" Target="https://www.uefa.com/uefachampionsleague/statistics/players/" TargetMode="External"/><Relationship Id="rId7" Type="http://schemas.openxmlformats.org/officeDocument/2006/relationships/hyperlink" Target="https://www.bundesliga.com/en/bundesliga/stats/players/top-speed" TargetMode="External"/><Relationship Id="rId2" Type="http://schemas.openxmlformats.org/officeDocument/2006/relationships/hyperlink" Target="https://fbref.com/en/comps/Big5/Big-5-European-Leagues-Stats" TargetMode="External"/><Relationship Id="rId1" Type="http://schemas.openxmlformats.org/officeDocument/2006/relationships/slideLayout" Target="../slideLayouts/slideLayout2.xml"/><Relationship Id="rId6" Type="http://schemas.openxmlformats.org/officeDocument/2006/relationships/hyperlink" Target="https://www.alimoshotoday.com/sports/osimhen-among-top-5-fastest-players-in-europe-6565811" TargetMode="External"/><Relationship Id="rId5" Type="http://schemas.openxmlformats.org/officeDocument/2006/relationships/hyperlink" Target="https://www.ligue1.com/Articles/NEWS/2022/09/28/mbappe-psg-speed-demons-who-can-keep-up-with" TargetMode="External"/><Relationship Id="rId4" Type="http://schemas.openxmlformats.org/officeDocument/2006/relationships/hyperlink" Target="https://www.liverpool.com/liverpool-fc-news/features/liverpool-fastest-player-nunez-salah-28090609" TargetMode="External"/><Relationship Id="rId9" Type="http://schemas.openxmlformats.org/officeDocument/2006/relationships/hyperlink" Target="https://www.transfermark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in a red uniform with his arms out in the air&#10;&#10;Description automatically generated">
            <a:extLst>
              <a:ext uri="{FF2B5EF4-FFF2-40B4-BE49-F238E27FC236}">
                <a16:creationId xmlns:a16="http://schemas.microsoft.com/office/drawing/2014/main" id="{14B635F1-D362-8889-D5AA-CC00C4870138}"/>
              </a:ext>
            </a:extLst>
          </p:cNvPr>
          <p:cNvPicPr>
            <a:picLocks noChangeAspect="1"/>
          </p:cNvPicPr>
          <p:nvPr/>
        </p:nvPicPr>
        <p:blipFill>
          <a:blip r:embed="rId2">
            <a:alphaModFix amt="13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8B21BB0-EE0F-BB93-C35B-510D75DF80B4}"/>
              </a:ext>
            </a:extLst>
          </p:cNvPr>
          <p:cNvSpPr>
            <a:spLocks noGrp="1"/>
          </p:cNvSpPr>
          <p:nvPr>
            <p:ph type="ctrTitle"/>
          </p:nvPr>
        </p:nvSpPr>
        <p:spPr>
          <a:xfrm>
            <a:off x="1384917" y="687943"/>
            <a:ext cx="9605639" cy="2681056"/>
          </a:xfrm>
        </p:spPr>
        <p:txBody>
          <a:bodyPr>
            <a:normAutofit/>
          </a:bodyPr>
          <a:lstStyle/>
          <a:p>
            <a:r>
              <a:rPr lang="en-GB" sz="5400"/>
              <a:t>Scouting Report on Mohamed Salah’s Replacement</a:t>
            </a:r>
          </a:p>
        </p:txBody>
      </p:sp>
      <p:sp>
        <p:nvSpPr>
          <p:cNvPr id="3" name="Subtitle 2">
            <a:extLst>
              <a:ext uri="{FF2B5EF4-FFF2-40B4-BE49-F238E27FC236}">
                <a16:creationId xmlns:a16="http://schemas.microsoft.com/office/drawing/2014/main" id="{7E4580F3-1F5C-56B2-A7E1-F7E1F9BF4B43}"/>
              </a:ext>
            </a:extLst>
          </p:cNvPr>
          <p:cNvSpPr>
            <a:spLocks noGrp="1"/>
          </p:cNvSpPr>
          <p:nvPr>
            <p:ph type="subTitle" idx="1"/>
          </p:nvPr>
        </p:nvSpPr>
        <p:spPr>
          <a:xfrm>
            <a:off x="1524000" y="4079875"/>
            <a:ext cx="9144000" cy="1655762"/>
          </a:xfrm>
        </p:spPr>
        <p:txBody>
          <a:bodyPr/>
          <a:lstStyle/>
          <a:p>
            <a:r>
              <a:rPr lang="en-GB"/>
              <a:t>Course: SP 7042</a:t>
            </a:r>
          </a:p>
          <a:p>
            <a:r>
              <a:rPr lang="en-GB"/>
              <a:t>Author: Tian Jiang</a:t>
            </a:r>
          </a:p>
          <a:p>
            <a:r>
              <a:rPr lang="en-GB"/>
              <a:t>Date: 15/May/2024</a:t>
            </a:r>
          </a:p>
        </p:txBody>
      </p:sp>
    </p:spTree>
    <p:extLst>
      <p:ext uri="{BB962C8B-B14F-4D97-AF65-F5344CB8AC3E}">
        <p14:creationId xmlns:p14="http://schemas.microsoft.com/office/powerpoint/2010/main" val="2298763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up of a person holding a currency&#10;&#10;Description automatically generated">
            <a:extLst>
              <a:ext uri="{FF2B5EF4-FFF2-40B4-BE49-F238E27FC236}">
                <a16:creationId xmlns:a16="http://schemas.microsoft.com/office/drawing/2014/main" id="{B8A392FF-03BA-A1EA-4F68-5EC70CBD5D90}"/>
              </a:ext>
            </a:extLst>
          </p:cNvPr>
          <p:cNvPicPr>
            <a:picLocks noChangeAspect="1"/>
          </p:cNvPicPr>
          <p:nvPr/>
        </p:nvPicPr>
        <p:blipFill rotWithShape="1">
          <a:blip r:embed="rId2">
            <a:extLst>
              <a:ext uri="{28A0092B-C50C-407E-A947-70E740481C1C}">
                <a14:useLocalDpi xmlns:a14="http://schemas.microsoft.com/office/drawing/2010/main" val="0"/>
              </a:ext>
            </a:extLst>
          </a:blip>
          <a:srcRect l="12157" r="8531"/>
          <a:stretch/>
        </p:blipFill>
        <p:spPr>
          <a:xfrm>
            <a:off x="2522356" y="10"/>
            <a:ext cx="9669642" cy="6857990"/>
          </a:xfrm>
          <a:prstGeom prst="rect">
            <a:avLst/>
          </a:prstGeom>
        </p:spPr>
      </p:pic>
      <p:sp>
        <p:nvSpPr>
          <p:cNvPr id="24" name="Rectangle 2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A73132-2F12-5925-6148-7FC31EBA569E}"/>
              </a:ext>
            </a:extLst>
          </p:cNvPr>
          <p:cNvSpPr>
            <a:spLocks noGrp="1"/>
          </p:cNvSpPr>
          <p:nvPr>
            <p:ph type="title"/>
          </p:nvPr>
        </p:nvSpPr>
        <p:spPr>
          <a:xfrm>
            <a:off x="588915" y="441325"/>
            <a:ext cx="3822189" cy="1899912"/>
          </a:xfrm>
        </p:spPr>
        <p:txBody>
          <a:bodyPr>
            <a:normAutofit/>
          </a:bodyPr>
          <a:lstStyle/>
          <a:p>
            <a:r>
              <a:rPr lang="en-GB" sz="4000" b="1"/>
              <a:t>Scenario:</a:t>
            </a:r>
          </a:p>
        </p:txBody>
      </p:sp>
      <p:sp>
        <p:nvSpPr>
          <p:cNvPr id="3" name="Content Placeholder 2">
            <a:extLst>
              <a:ext uri="{FF2B5EF4-FFF2-40B4-BE49-F238E27FC236}">
                <a16:creationId xmlns:a16="http://schemas.microsoft.com/office/drawing/2014/main" id="{5A6B4DA4-D1F0-38C6-D02C-0C6CF559FD4F}"/>
              </a:ext>
            </a:extLst>
          </p:cNvPr>
          <p:cNvSpPr>
            <a:spLocks noGrp="1"/>
          </p:cNvSpPr>
          <p:nvPr>
            <p:ph idx="1"/>
          </p:nvPr>
        </p:nvSpPr>
        <p:spPr>
          <a:xfrm>
            <a:off x="588918" y="1986526"/>
            <a:ext cx="3885428" cy="3742762"/>
          </a:xfrm>
        </p:spPr>
        <p:txBody>
          <a:bodyPr>
            <a:normAutofit/>
          </a:bodyPr>
          <a:lstStyle/>
          <a:p>
            <a:pPr marL="0" indent="0">
              <a:buNone/>
            </a:pPr>
            <a:r>
              <a:rPr lang="en-GB" sz="2400" kern="100">
                <a:effectLst/>
                <a:latin typeface="Aptos" panose="020F0502020204030204" pitchFamily="34" charset="0"/>
                <a:ea typeface="DengXian" panose="02010600030101010101" pitchFamily="2" charset="-122"/>
                <a:cs typeface="Arial" panose="020B0604020202020204" pitchFamily="34" charset="0"/>
              </a:rPr>
              <a:t>M.Salah is moving to Saudi Arabia for around 150-200M £ in the summer of 2024, we must find a replacement for him. Since Jurgen Klopp will step down in the end of the season, his assistant Pepijin Ljinders is going to promote as the head coach of the team so that Liverpool will remain the same play style.</a:t>
            </a:r>
          </a:p>
          <a:p>
            <a:pPr marL="0" indent="0">
              <a:buNone/>
            </a:pPr>
            <a:endParaRPr lang="en-GB" sz="2000"/>
          </a:p>
        </p:txBody>
      </p:sp>
    </p:spTree>
    <p:extLst>
      <p:ext uri="{BB962C8B-B14F-4D97-AF65-F5344CB8AC3E}">
        <p14:creationId xmlns:p14="http://schemas.microsoft.com/office/powerpoint/2010/main" val="1716492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3CA2B-FFB2-3E15-645F-120A93B2D0CA}"/>
              </a:ext>
            </a:extLst>
          </p:cNvPr>
          <p:cNvSpPr>
            <a:spLocks noGrp="1"/>
          </p:cNvSpPr>
          <p:nvPr>
            <p:ph type="title"/>
          </p:nvPr>
        </p:nvSpPr>
        <p:spPr>
          <a:xfrm>
            <a:off x="838200" y="365126"/>
            <a:ext cx="10515600" cy="620296"/>
          </a:xfrm>
        </p:spPr>
        <p:txBody>
          <a:bodyPr>
            <a:normAutofit/>
          </a:bodyPr>
          <a:lstStyle/>
          <a:p>
            <a:r>
              <a:rPr lang="en-GB" sz="3600"/>
              <a:t>Selection Process:</a:t>
            </a:r>
          </a:p>
        </p:txBody>
      </p:sp>
      <p:sp>
        <p:nvSpPr>
          <p:cNvPr id="3" name="Content Placeholder 2">
            <a:extLst>
              <a:ext uri="{FF2B5EF4-FFF2-40B4-BE49-F238E27FC236}">
                <a16:creationId xmlns:a16="http://schemas.microsoft.com/office/drawing/2014/main" id="{382030A5-EC1F-0388-EF85-E72B557180D7}"/>
              </a:ext>
            </a:extLst>
          </p:cNvPr>
          <p:cNvSpPr>
            <a:spLocks noGrp="1"/>
          </p:cNvSpPr>
          <p:nvPr>
            <p:ph idx="1"/>
          </p:nvPr>
        </p:nvSpPr>
        <p:spPr>
          <a:xfrm>
            <a:off x="838200" y="1337352"/>
            <a:ext cx="10515600" cy="4717218"/>
          </a:xfrm>
        </p:spPr>
        <p:txBody>
          <a:bodyPr>
            <a:normAutofit/>
          </a:bodyPr>
          <a:lstStyle/>
          <a:p>
            <a:pPr marL="514350" indent="-514350">
              <a:buAutoNum type="arabicPeriod"/>
            </a:pPr>
            <a:r>
              <a:rPr lang="en-GB" sz="1800"/>
              <a:t>Identification of the play style of Liverpool and M.Salah;</a:t>
            </a:r>
          </a:p>
          <a:p>
            <a:pPr marL="514350" indent="-514350">
              <a:buAutoNum type="arabicPeriod"/>
            </a:pPr>
            <a:r>
              <a:rPr lang="en-GB" sz="1800"/>
              <a:t>Selection 1 based on FBREF’s 5 major European leagues for the past 3 seasons, with criteria on Min Played (&gt;=3000m), Age (&lt;=26), Goals Scored (weighted as per season) and Goal Conversion Rate;</a:t>
            </a:r>
          </a:p>
          <a:p>
            <a:pPr marL="514350" indent="-514350">
              <a:buAutoNum type="arabicPeriod"/>
            </a:pPr>
            <a:r>
              <a:rPr lang="en-GB" sz="1800"/>
              <a:t>Selection 2 is a complementory of the 1</a:t>
            </a:r>
            <a:r>
              <a:rPr lang="en-GB" sz="1800" baseline="30000"/>
              <a:t>st</a:t>
            </a:r>
            <a:r>
              <a:rPr lang="en-GB" sz="1800"/>
              <a:t> selection to avoid any elimination of suitable players. Criteria as Attacking Contribution and Goals-xG are applied.</a:t>
            </a:r>
          </a:p>
          <a:p>
            <a:pPr marL="514350" indent="-514350">
              <a:buAutoNum type="arabicPeriod"/>
            </a:pPr>
            <a:r>
              <a:rPr lang="en-GB" sz="1800"/>
              <a:t>Selection 3 aims to cut unrealistic targets and players below a certain bar on Defensive Contribution and Attacking Contribution per 90.</a:t>
            </a:r>
          </a:p>
          <a:p>
            <a:pPr marL="514350" indent="-514350">
              <a:buAutoNum type="arabicPeriod"/>
            </a:pPr>
            <a:r>
              <a:rPr lang="en-GB" sz="1800"/>
              <a:t>We finally get a list of 6 players whom we will analyse individually afterwards.</a:t>
            </a:r>
          </a:p>
          <a:p>
            <a:pPr marL="514350" indent="-514350">
              <a:buAutoNum type="arabicPeriod"/>
            </a:pPr>
            <a:r>
              <a:rPr lang="en-GB" sz="1800"/>
              <a:t>Extra layers added to complete the process such as players’ physical data (Distance Covered/90 &amp; Top Speed) plus their social media analysis (based on their most recent 100 post on Instagram).</a:t>
            </a:r>
          </a:p>
          <a:p>
            <a:pPr marL="514350" indent="-514350">
              <a:buAutoNum type="arabicPeriod"/>
            </a:pPr>
            <a:r>
              <a:rPr lang="en-GB" sz="1800"/>
              <a:t>Giving a ranking on the players based on the 3 core factors (technical, tactical &amp; physical) for the final recommendation.</a:t>
            </a:r>
          </a:p>
        </p:txBody>
      </p:sp>
    </p:spTree>
    <p:extLst>
      <p:ext uri="{BB962C8B-B14F-4D97-AF65-F5344CB8AC3E}">
        <p14:creationId xmlns:p14="http://schemas.microsoft.com/office/powerpoint/2010/main" val="2398008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7F74A-780F-6E11-D84A-47036FB36C2F}"/>
              </a:ext>
            </a:extLst>
          </p:cNvPr>
          <p:cNvSpPr>
            <a:spLocks noGrp="1"/>
          </p:cNvSpPr>
          <p:nvPr>
            <p:ph type="title"/>
          </p:nvPr>
        </p:nvSpPr>
        <p:spPr>
          <a:xfrm>
            <a:off x="876692" y="484216"/>
            <a:ext cx="5479719" cy="1616203"/>
          </a:xfrm>
        </p:spPr>
        <p:txBody>
          <a:bodyPr anchor="b">
            <a:normAutofit/>
          </a:bodyPr>
          <a:lstStyle/>
          <a:p>
            <a:r>
              <a:rPr lang="en-GB" sz="3600" b="1"/>
              <a:t>Liverpool’s Play Style:</a:t>
            </a:r>
          </a:p>
        </p:txBody>
      </p:sp>
      <p:sp>
        <p:nvSpPr>
          <p:cNvPr id="3" name="Content Placeholder 2">
            <a:extLst>
              <a:ext uri="{FF2B5EF4-FFF2-40B4-BE49-F238E27FC236}">
                <a16:creationId xmlns:a16="http://schemas.microsoft.com/office/drawing/2014/main" id="{D260BFF1-20A1-3BCC-F367-A40D7A1C3B95}"/>
              </a:ext>
            </a:extLst>
          </p:cNvPr>
          <p:cNvSpPr>
            <a:spLocks noGrp="1"/>
          </p:cNvSpPr>
          <p:nvPr>
            <p:ph idx="1"/>
          </p:nvPr>
        </p:nvSpPr>
        <p:spPr>
          <a:xfrm>
            <a:off x="876692" y="2533476"/>
            <a:ext cx="5479719" cy="3447832"/>
          </a:xfrm>
        </p:spPr>
        <p:txBody>
          <a:bodyPr anchor="t">
            <a:normAutofit/>
          </a:bodyPr>
          <a:lstStyle/>
          <a:p>
            <a:r>
              <a:rPr lang="en-GB" sz="2400"/>
              <a:t>Possession based attacking football;</a:t>
            </a:r>
          </a:p>
          <a:p>
            <a:r>
              <a:rPr lang="en-GB" sz="2400"/>
              <a:t>Intense high pressing &amp; counter-pressing with a high defensive line;</a:t>
            </a:r>
          </a:p>
          <a:p>
            <a:r>
              <a:rPr lang="en-GB" sz="2400"/>
              <a:t>Fast counter-attack;</a:t>
            </a:r>
          </a:p>
          <a:p>
            <a:r>
              <a:rPr lang="en-GB" sz="2400"/>
              <a:t>Energetic positional attack with flexible rotations among the attackers.</a:t>
            </a:r>
          </a:p>
          <a:p>
            <a:pPr marL="0" indent="0">
              <a:buNone/>
            </a:pPr>
            <a:endParaRPr lang="en-GB" sz="2000"/>
          </a:p>
        </p:txBody>
      </p:sp>
      <p:pic>
        <p:nvPicPr>
          <p:cNvPr id="13" name="Picture 12">
            <a:extLst>
              <a:ext uri="{FF2B5EF4-FFF2-40B4-BE49-F238E27FC236}">
                <a16:creationId xmlns:a16="http://schemas.microsoft.com/office/drawing/2014/main" id="{50809A47-96CF-B7D6-2C57-8477467E055E}"/>
              </a:ext>
            </a:extLst>
          </p:cNvPr>
          <p:cNvPicPr>
            <a:picLocks noChangeAspect="1"/>
          </p:cNvPicPr>
          <p:nvPr/>
        </p:nvPicPr>
        <p:blipFill rotWithShape="1">
          <a:blip r:embed="rId2"/>
          <a:srcRect t="360"/>
          <a:stretch/>
        </p:blipFill>
        <p:spPr>
          <a:xfrm>
            <a:off x="7147451" y="10"/>
            <a:ext cx="4921187" cy="6857990"/>
          </a:xfrm>
          <a:prstGeom prst="rect">
            <a:avLst/>
          </a:prstGeom>
        </p:spPr>
      </p:pic>
      <p:grpSp>
        <p:nvGrpSpPr>
          <p:cNvPr id="91" name="Group 90">
            <a:extLst>
              <a:ext uri="{FF2B5EF4-FFF2-40B4-BE49-F238E27FC236}">
                <a16:creationId xmlns:a16="http://schemas.microsoft.com/office/drawing/2014/main" id="{8CE57D37-C2D0-066B-1AE3-6F4244344F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92" name="Rectangle 91">
              <a:extLst>
                <a:ext uri="{FF2B5EF4-FFF2-40B4-BE49-F238E27FC236}">
                  <a16:creationId xmlns:a16="http://schemas.microsoft.com/office/drawing/2014/main" id="{A24DCA44-89CF-872A-903F-96C50780E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4B0CC4F5-AC85-FFFA-7EB5-33C4FCE90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53759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9C9984-2CE9-D9FD-1F07-35CF91103ACC}"/>
              </a:ext>
            </a:extLst>
          </p:cNvPr>
          <p:cNvSpPr>
            <a:spLocks noGrp="1"/>
          </p:cNvSpPr>
          <p:nvPr>
            <p:ph type="title"/>
          </p:nvPr>
        </p:nvSpPr>
        <p:spPr>
          <a:xfrm>
            <a:off x="4553732" y="110314"/>
            <a:ext cx="6798541" cy="1675623"/>
          </a:xfrm>
        </p:spPr>
        <p:txBody>
          <a:bodyPr anchor="b">
            <a:normAutofit/>
          </a:bodyPr>
          <a:lstStyle/>
          <a:p>
            <a:r>
              <a:rPr lang="en-GB" sz="4000" b="1"/>
              <a:t>Salah’s Play Style at Liverpool:</a:t>
            </a:r>
            <a:br>
              <a:rPr lang="en-GB" sz="4000" b="1"/>
            </a:br>
            <a:r>
              <a:rPr lang="en-GB" sz="2000" b="1">
                <a:solidFill>
                  <a:schemeClr val="bg1"/>
                </a:solidFill>
                <a:highlight>
                  <a:srgbClr val="008000"/>
                </a:highlight>
                <a:latin typeface="Abadi Extra Light" panose="020B0204020104020204" pitchFamily="34" charset="0"/>
              </a:rPr>
              <a:t>Top of the Squad -</a:t>
            </a:r>
            <a:r>
              <a:rPr lang="en-GB" sz="2000" b="1">
                <a:solidFill>
                  <a:schemeClr val="bg1"/>
                </a:solidFill>
                <a:highlight>
                  <a:srgbClr val="008000"/>
                </a:highlight>
              </a:rPr>
              <a:t> Occupys </a:t>
            </a:r>
            <a:r>
              <a:rPr lang="en-GB" sz="2000" b="1">
                <a:solidFill>
                  <a:schemeClr val="bg1"/>
                </a:solidFill>
                <a:highlight>
                  <a:srgbClr val="008000"/>
                </a:highlight>
                <a:latin typeface="Abadi Extra Light" panose="020F0502020204030204" pitchFamily="34" charset="0"/>
              </a:rPr>
              <a:t>24% in Liverpool’s Total Goals Scored during 2021-24 (59/246)</a:t>
            </a:r>
          </a:p>
        </p:txBody>
      </p:sp>
      <p:pic>
        <p:nvPicPr>
          <p:cNvPr id="5" name="Picture 4" descr="A group of men playing football&#10;&#10;Description automatically generated">
            <a:extLst>
              <a:ext uri="{FF2B5EF4-FFF2-40B4-BE49-F238E27FC236}">
                <a16:creationId xmlns:a16="http://schemas.microsoft.com/office/drawing/2014/main" id="{5084DEAF-FAC6-5BC6-2864-E567AD0827CD}"/>
              </a:ext>
            </a:extLst>
          </p:cNvPr>
          <p:cNvPicPr>
            <a:picLocks noChangeAspect="1"/>
          </p:cNvPicPr>
          <p:nvPr/>
        </p:nvPicPr>
        <p:blipFill rotWithShape="1">
          <a:blip r:embed="rId2">
            <a:extLst>
              <a:ext uri="{28A0092B-C50C-407E-A947-70E740481C1C}">
                <a14:useLocalDpi xmlns:a14="http://schemas.microsoft.com/office/drawing/2010/main" val="0"/>
              </a:ext>
            </a:extLst>
          </a:blip>
          <a:srcRect l="15623" r="46132"/>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5EC52F58-EF50-9718-1E02-09793BFC32C3}"/>
              </a:ext>
            </a:extLst>
          </p:cNvPr>
          <p:cNvSpPr>
            <a:spLocks noGrp="1"/>
          </p:cNvSpPr>
          <p:nvPr>
            <p:ph idx="1"/>
          </p:nvPr>
        </p:nvSpPr>
        <p:spPr>
          <a:xfrm>
            <a:off x="4553734" y="2362205"/>
            <a:ext cx="6798539" cy="3705217"/>
          </a:xfrm>
        </p:spPr>
        <p:txBody>
          <a:bodyPr>
            <a:normAutofit/>
          </a:bodyPr>
          <a:lstStyle/>
          <a:p>
            <a:r>
              <a:rPr lang="en-GB" sz="2000"/>
              <a:t>Inverted right winger who drifts inwards frequently;</a:t>
            </a:r>
          </a:p>
          <a:p>
            <a:r>
              <a:rPr lang="en-GB" sz="2000"/>
              <a:t>Many runs behind the opposition’s backline for direct goal-scoring opportunities;</a:t>
            </a:r>
          </a:p>
          <a:p>
            <a:r>
              <a:rPr lang="en-GB" sz="2000"/>
              <a:t>Big threat in counter-attack with his lightning speed.</a:t>
            </a:r>
          </a:p>
          <a:p>
            <a:r>
              <a:rPr lang="en-GB" sz="2000"/>
              <a:t>Able to move out wide or drop back to receive the ball for combinations with teammates.</a:t>
            </a:r>
          </a:p>
          <a:p>
            <a:r>
              <a:rPr lang="en-GB" sz="2000"/>
              <a:t>Decent dribbling/ball control skills making the opponents hard to dispossess him.</a:t>
            </a:r>
          </a:p>
        </p:txBody>
      </p:sp>
    </p:spTree>
    <p:extLst>
      <p:ext uri="{BB962C8B-B14F-4D97-AF65-F5344CB8AC3E}">
        <p14:creationId xmlns:p14="http://schemas.microsoft.com/office/powerpoint/2010/main" val="1075812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26932-8B42-4118-5BC1-4C92B9E40CFC}"/>
              </a:ext>
            </a:extLst>
          </p:cNvPr>
          <p:cNvSpPr>
            <a:spLocks noGrp="1"/>
          </p:cNvSpPr>
          <p:nvPr>
            <p:ph type="title"/>
          </p:nvPr>
        </p:nvSpPr>
        <p:spPr>
          <a:xfrm>
            <a:off x="1512533" y="274057"/>
            <a:ext cx="9486530" cy="1055302"/>
          </a:xfrm>
        </p:spPr>
        <p:txBody>
          <a:bodyPr/>
          <a:lstStyle/>
          <a:p>
            <a:r>
              <a:rPr lang="en-GB"/>
              <a:t>Formulars for the making of radar chart</a:t>
            </a:r>
          </a:p>
        </p:txBody>
      </p:sp>
      <p:pic>
        <p:nvPicPr>
          <p:cNvPr id="17" name="Picture 16" descr="A screenshot of a computer&#10;&#10;Description automatically generated">
            <a:extLst>
              <a:ext uri="{FF2B5EF4-FFF2-40B4-BE49-F238E27FC236}">
                <a16:creationId xmlns:a16="http://schemas.microsoft.com/office/drawing/2014/main" id="{89B8A06A-756B-8954-07F6-90627FA903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9015" y="3090755"/>
            <a:ext cx="3696020" cy="922100"/>
          </a:xfrm>
          <a:prstGeom prst="rect">
            <a:avLst/>
          </a:prstGeom>
          <a:ln>
            <a:solidFill>
              <a:schemeClr val="tx1"/>
            </a:solidFill>
          </a:ln>
        </p:spPr>
      </p:pic>
      <p:pic>
        <p:nvPicPr>
          <p:cNvPr id="19" name="Picture 18" descr="A screenshot of a computer&#10;&#10;Description automatically generated">
            <a:extLst>
              <a:ext uri="{FF2B5EF4-FFF2-40B4-BE49-F238E27FC236}">
                <a16:creationId xmlns:a16="http://schemas.microsoft.com/office/drawing/2014/main" id="{E7B693BB-3B6C-D1DB-C810-9CC604C1D5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9015" y="1577235"/>
            <a:ext cx="3696020" cy="1188823"/>
          </a:xfrm>
          <a:prstGeom prst="rect">
            <a:avLst/>
          </a:prstGeom>
          <a:ln>
            <a:solidFill>
              <a:schemeClr val="tx1"/>
            </a:solidFill>
          </a:ln>
        </p:spPr>
      </p:pic>
      <p:pic>
        <p:nvPicPr>
          <p:cNvPr id="21" name="Picture 20" descr="A screenshot of a computer code">
            <a:extLst>
              <a:ext uri="{FF2B5EF4-FFF2-40B4-BE49-F238E27FC236}">
                <a16:creationId xmlns:a16="http://schemas.microsoft.com/office/drawing/2014/main" id="{FDBE21E7-B947-B793-62D5-99F11F53A5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2792" y="1587455"/>
            <a:ext cx="5589535" cy="3683090"/>
          </a:xfrm>
          <a:prstGeom prst="rect">
            <a:avLst/>
          </a:prstGeom>
          <a:ln>
            <a:solidFill>
              <a:schemeClr val="tx1"/>
            </a:solidFill>
          </a:ln>
        </p:spPr>
      </p:pic>
      <p:pic>
        <p:nvPicPr>
          <p:cNvPr id="23" name="Picture 22" descr="A screenshot of a computer&#10;&#10;Description automatically generated">
            <a:extLst>
              <a:ext uri="{FF2B5EF4-FFF2-40B4-BE49-F238E27FC236}">
                <a16:creationId xmlns:a16="http://schemas.microsoft.com/office/drawing/2014/main" id="{3278C767-D0D4-BCF5-4199-E272934634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59015" y="4337552"/>
            <a:ext cx="3704710" cy="823031"/>
          </a:xfrm>
          <a:prstGeom prst="rect">
            <a:avLst/>
          </a:prstGeom>
          <a:ln>
            <a:solidFill>
              <a:schemeClr val="tx1"/>
            </a:solidFill>
          </a:ln>
        </p:spPr>
      </p:pic>
    </p:spTree>
    <p:extLst>
      <p:ext uri="{BB962C8B-B14F-4D97-AF65-F5344CB8AC3E}">
        <p14:creationId xmlns:p14="http://schemas.microsoft.com/office/powerpoint/2010/main" val="47772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3AD05-982C-D53E-3358-7F4F08D217C2}"/>
              </a:ext>
            </a:extLst>
          </p:cNvPr>
          <p:cNvSpPr>
            <a:spLocks noGrp="1"/>
          </p:cNvSpPr>
          <p:nvPr>
            <p:ph type="title"/>
          </p:nvPr>
        </p:nvSpPr>
        <p:spPr/>
        <p:txBody>
          <a:bodyPr/>
          <a:lstStyle/>
          <a:p>
            <a:r>
              <a:rPr lang="en-GB"/>
              <a:t>Resourses:</a:t>
            </a:r>
          </a:p>
        </p:txBody>
      </p:sp>
      <p:sp>
        <p:nvSpPr>
          <p:cNvPr id="3" name="Content Placeholder 2">
            <a:extLst>
              <a:ext uri="{FF2B5EF4-FFF2-40B4-BE49-F238E27FC236}">
                <a16:creationId xmlns:a16="http://schemas.microsoft.com/office/drawing/2014/main" id="{98E31BA1-D46D-806F-9701-9DE029002DDE}"/>
              </a:ext>
            </a:extLst>
          </p:cNvPr>
          <p:cNvSpPr>
            <a:spLocks noGrp="1"/>
          </p:cNvSpPr>
          <p:nvPr>
            <p:ph idx="1"/>
          </p:nvPr>
        </p:nvSpPr>
        <p:spPr>
          <a:xfrm>
            <a:off x="838200" y="1491449"/>
            <a:ext cx="10515600" cy="4685514"/>
          </a:xfrm>
        </p:spPr>
        <p:txBody>
          <a:bodyPr/>
          <a:lstStyle/>
          <a:p>
            <a:r>
              <a:rPr lang="en-GB"/>
              <a:t>FBREF - </a:t>
            </a:r>
            <a:r>
              <a:rPr lang="en-GB">
                <a:hlinkClick r:id="rId2"/>
              </a:rPr>
              <a:t>URL</a:t>
            </a:r>
            <a:endParaRPr lang="en-GB"/>
          </a:p>
          <a:p>
            <a:r>
              <a:rPr lang="en-GB"/>
              <a:t>Instagram</a:t>
            </a:r>
          </a:p>
          <a:p>
            <a:r>
              <a:rPr lang="en-GB"/>
              <a:t>uefa.com - </a:t>
            </a:r>
            <a:r>
              <a:rPr lang="en-GB">
                <a:hlinkClick r:id="rId3"/>
              </a:rPr>
              <a:t>URL</a:t>
            </a:r>
            <a:endParaRPr lang="en-GB"/>
          </a:p>
          <a:p>
            <a:r>
              <a:rPr lang="en-GB"/>
              <a:t>liverpool.com - </a:t>
            </a:r>
            <a:r>
              <a:rPr lang="en-GB">
                <a:hlinkClick r:id="rId4"/>
              </a:rPr>
              <a:t>URL</a:t>
            </a:r>
            <a:endParaRPr lang="en-GB"/>
          </a:p>
          <a:p>
            <a:r>
              <a:rPr lang="en-GB"/>
              <a:t>ligue1.com - </a:t>
            </a:r>
            <a:r>
              <a:rPr lang="en-GB">
                <a:hlinkClick r:id="rId5"/>
              </a:rPr>
              <a:t>URL</a:t>
            </a:r>
            <a:endParaRPr lang="en-GB"/>
          </a:p>
          <a:p>
            <a:r>
              <a:rPr lang="en-GB"/>
              <a:t>alimoshotoday.com - </a:t>
            </a:r>
            <a:r>
              <a:rPr lang="en-GB">
                <a:hlinkClick r:id="rId6"/>
              </a:rPr>
              <a:t>URL</a:t>
            </a:r>
            <a:endParaRPr lang="en-GB"/>
          </a:p>
          <a:p>
            <a:r>
              <a:rPr lang="en-GB"/>
              <a:t>bundesliga.com - </a:t>
            </a:r>
            <a:r>
              <a:rPr lang="en-GB">
                <a:hlinkClick r:id="rId7"/>
              </a:rPr>
              <a:t>URL</a:t>
            </a:r>
            <a:endParaRPr lang="en-GB"/>
          </a:p>
          <a:p>
            <a:r>
              <a:rPr lang="en-GB"/>
              <a:t>givemesport.com - </a:t>
            </a:r>
            <a:r>
              <a:rPr lang="en-GB">
                <a:hlinkClick r:id="rId8"/>
              </a:rPr>
              <a:t>URL</a:t>
            </a:r>
            <a:endParaRPr lang="en-GB"/>
          </a:p>
          <a:p>
            <a:r>
              <a:rPr lang="en-GB"/>
              <a:t>transfermarkt.com - </a:t>
            </a:r>
            <a:r>
              <a:rPr lang="en-GB">
                <a:hlinkClick r:id="rId9"/>
              </a:rPr>
              <a:t>URL</a:t>
            </a:r>
            <a:endParaRPr lang="en-GB"/>
          </a:p>
          <a:p>
            <a:endParaRPr lang="en-GB"/>
          </a:p>
        </p:txBody>
      </p:sp>
    </p:spTree>
    <p:extLst>
      <p:ext uri="{BB962C8B-B14F-4D97-AF65-F5344CB8AC3E}">
        <p14:creationId xmlns:p14="http://schemas.microsoft.com/office/powerpoint/2010/main" val="41490753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13270</TotalTime>
  <Words>432</Words>
  <Application>Microsoft Office PowerPoint</Application>
  <PresentationFormat>Widescreen</PresentationFormat>
  <Paragraphs>36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Abadi Extra Light</vt:lpstr>
      <vt:lpstr>Aptos</vt:lpstr>
      <vt:lpstr>Arial</vt:lpstr>
      <vt:lpstr>Calibri</vt:lpstr>
      <vt:lpstr>Calibri Light</vt:lpstr>
      <vt:lpstr>Office Theme</vt:lpstr>
      <vt:lpstr>Scouting Report on Mohamed Salah’s Replacement</vt:lpstr>
      <vt:lpstr>Scenario:</vt:lpstr>
      <vt:lpstr>Selection Process:</vt:lpstr>
      <vt:lpstr>Liverpool’s Play Style:</vt:lpstr>
      <vt:lpstr>Salah’s Play Style at Liverpool: Top of the Squad - Occupys 24% in Liverpool’s Total Goals Scored during 2021-24 (59/246)</vt:lpstr>
      <vt:lpstr>Formulars for the making of radar chart</vt:lpstr>
      <vt:lpstr>Resourses: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Scouting Report on Mohamed Salah’s Replacement</dc:title>
  <dc:creator>Jiang, Tian</dc:creator>
  <cp:lastModifiedBy>Jiang, Tian</cp:lastModifiedBy>
  <cp:revision>12</cp:revision>
  <dcterms:created xsi:type="dcterms:W3CDTF">2024-03-31T22:46:33Z</dcterms:created>
  <dcterms:modified xsi:type="dcterms:W3CDTF">2024-05-15T13:13:58Z</dcterms:modified>
</cp:coreProperties>
</file>